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645920"/>
            <a:ext cx="10362895" cy="2486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300" b="1">
                <a:solidFill>
                  <a:srgbClr val="0284C7"/>
                </a:solidFill>
              </a:defRPr>
            </a:pPr>
            <a:r>
              <a:t>HỌC PHẦN: HỌC MÁY CƠ BẢN - LỚP 12523W.2</a:t>
            </a:r>
          </a:p>
          <a:p>
            <a:pPr>
              <a:spcAft>
                <a:spcPts val="1400"/>
              </a:spcAft>
              <a:defRPr sz="3200" b="1">
                <a:solidFill>
                  <a:srgbClr val="FFFFFF"/>
                </a:solidFill>
              </a:defRPr>
            </a:pPr>
            <a:r>
              <a:t>HỆ THỐNG PHÂN LOẠI CHIM CÁNH CỤT</a:t>
            </a:r>
            <a:br/>
            <a:r>
              <a:t>PALMER ARCHIPELAGO</a:t>
            </a:r>
          </a:p>
          <a:p>
            <a:pPr>
              <a:spcAft>
                <a:spcPts val="2800"/>
              </a:spcAft>
              <a:defRPr sz="1800">
                <a:solidFill>
                  <a:srgbClr val="CDD5E1"/>
                </a:solidFill>
              </a:defRPr>
            </a:pPr>
            <a:r>
              <a:t>Kiến trúc Microservices End-to-End: ML Pipeline, FastAPI &amp; Docker Compose</a:t>
            </a:r>
          </a:p>
          <a:p>
            <a:pPr>
              <a:defRPr sz="1400" b="1">
                <a:solidFill>
                  <a:srgbClr val="10B981"/>
                </a:solidFill>
              </a:defRPr>
            </a:pPr>
            <a:r>
              <a:t>• GVHD: ThS. Nguyễn Đức Tuấn Anh   |   • Nhóm thực hiện: </a:t>
            </a:r>
            <a:r>
              <a:rPr lang="en-US"/>
              <a:t>Đặng Văn Sỹ</a:t>
            </a:r>
            <a:r>
              <a:t> (1</a:t>
            </a:r>
            <a:r>
              <a:rPr lang="en-US"/>
              <a:t>2523077</a:t>
            </a:r>
            <a:r>
              <a:t>) &amp; </a:t>
            </a:r>
            <a:r>
              <a:rPr lang="en-US"/>
              <a:t>Đỗ Thanh Mai</a:t>
            </a:r>
            <a:r>
              <a:t> (12523</a:t>
            </a:r>
            <a:r>
              <a:rPr lang="en-US"/>
              <a:t>04</a:t>
            </a:r>
            <a:r>
              <a:t>8)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284C7"/>
                </a:solidFill>
                <a:latin typeface="Arial" panose="020B0604020202020204"/>
              </a:defRPr>
            </a:pPr>
            <a:r>
              <a:t>BÁO CÁO BÀI TẬP LỚN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Arial" panose="020B0604020202020204"/>
              </a:defRPr>
            </a:pPr>
            <a:r>
              <a:t>1. Tổng Quan Bài Toán &amp; Phân Công Công Việc Nhóm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5120640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0" rIns="274320" bIns="274320" rtlCol="0" anchor="ctr"/>
          <a:lstStyle/>
          <a:p>
            <a:pPr algn="ctr">
              <a:spcAft>
                <a:spcPts val="1200"/>
              </a:spcAft>
              <a:defRPr sz="1600" b="1">
                <a:solidFill>
                  <a:srgbClr val="0F172A"/>
                </a:solidFill>
              </a:defRPr>
            </a:pPr>
            <a:r>
              <a:t>MỤC TIÊU DỰ ÁN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0284C7"/>
                </a:solidFill>
              </a:rPr>
              <a:t>• Bài toán ML: </a:t>
            </a:r>
            <a:r>
              <a:rPr sz="1300">
                <a:solidFill>
                  <a:srgbClr val="1E293B"/>
                </a:solidFill>
              </a:rPr>
              <a:t>Phân loại đa lớp (Multi-class Classification) 3 loài chim cánh cụt: Adelie, Chinstrap, Gentoo.</a:t>
            </a:r>
            <a:endParaRPr sz="1300">
              <a:solidFill>
                <a:srgbClr val="1E293B"/>
              </a:solidFill>
            </a:endParaRP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0284C7"/>
                </a:solidFill>
              </a:rPr>
              <a:t>• Tập dữ liệu: </a:t>
            </a:r>
            <a:r>
              <a:rPr sz="1300">
                <a:solidFill>
                  <a:srgbClr val="1E293B"/>
                </a:solidFill>
              </a:rPr>
              <a:t>Palmer Archipelago (Antarctica) trên Kaggle, gồm 344 mẫu với 7 đặc trưng sinh trắc học.</a:t>
            </a:r>
            <a:endParaRPr sz="1300">
              <a:solidFill>
                <a:srgbClr val="1E293B"/>
              </a:solidFill>
            </a:endParaRP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0284C7"/>
                </a:solidFill>
              </a:rPr>
              <a:t>• Sản phẩm cuối: </a:t>
            </a:r>
            <a:r>
              <a:rPr sz="1300">
                <a:solidFill>
                  <a:srgbClr val="1E293B"/>
                </a:solidFill>
              </a:rPr>
              <a:t>Hệ thống Web Microservices đóng gói bằng Docker Compose chạy công khai.</a:t>
            </a:r>
            <a:endParaRPr sz="1300">
              <a:solidFill>
                <a:srgbClr val="1E293B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217920" y="1280160"/>
            <a:ext cx="5212080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0" rIns="274320" bIns="274320" rtlCol="0" anchor="ctr"/>
          <a:lstStyle/>
          <a:p>
            <a:pPr algn="ctr">
              <a:spcAft>
                <a:spcPts val="1200"/>
              </a:spcAft>
              <a:defRPr sz="1600" b="1">
                <a:solidFill>
                  <a:srgbClr val="0F172A"/>
                </a:solidFill>
              </a:defRPr>
            </a:pPr>
            <a:r>
              <a:t>PHÂN CÔNG NHIỆM VỤ (50% - 50%)</a:t>
            </a:r>
          </a:p>
          <a:p>
            <a:pPr>
              <a:defRPr sz="1400" b="1">
                <a:solidFill>
                  <a:srgbClr val="0284C7"/>
                </a:solidFill>
              </a:defRPr>
            </a:pPr>
            <a:r>
              <a:t>[Nhóm trưởng] </a:t>
            </a:r>
            <a:r>
              <a:rPr lang="en-US"/>
              <a:t>Đặng Văn Sỹ</a:t>
            </a:r>
            <a:r>
              <a:t> (1</a:t>
            </a:r>
            <a:r>
              <a:rPr lang="en-US"/>
              <a:t>2523077</a:t>
            </a:r>
            <a:r>
              <a:t>)</a:t>
            </a:r>
          </a:p>
          <a:p>
            <a:pPr>
              <a:spcAft>
                <a:spcPts val="1400"/>
              </a:spcAft>
              <a:defRPr sz="1200">
                <a:solidFill>
                  <a:srgbClr val="1E293B"/>
                </a:solidFill>
              </a:defRPr>
            </a:pPr>
            <a:r>
              <a:t>Thực hiện EDA, Preprocessing, Train &amp; Tune 4 Models (GridSearchCV), đóng gói AI Service FastAPI và xuất các file artifacts.</a:t>
            </a:r>
          </a:p>
          <a:p>
            <a:pPr>
              <a:defRPr sz="1400" b="1">
                <a:solidFill>
                  <a:srgbClr val="0284C7"/>
                </a:solidFill>
              </a:defRPr>
            </a:pPr>
            <a:r>
              <a:t>[Thành viên] </a:t>
            </a:r>
            <a:r>
              <a:rPr lang="en-US"/>
              <a:t>Đỗ Thanh Mai</a:t>
            </a:r>
            <a:r>
              <a:t> (12523</a:t>
            </a:r>
            <a:r>
              <a:rPr lang="en-US"/>
              <a:t>04</a:t>
            </a:r>
            <a:r>
              <a:t>8)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Xây dựng Backend FastAPI, lưu trữ lịch sử CSDL MongoDB, thiết lập Frontend React, viết Docker Compose &amp; Deploy Ngrok.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284C7"/>
                </a:solidFill>
                <a:latin typeface="Arial" panose="020B0604020202020204"/>
              </a:defRPr>
            </a:pPr>
            <a:r>
              <a:t>BÁO CÁO BÀI TẬP LỚN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Arial" panose="020B0604020202020204"/>
              </a:defRPr>
            </a:pPr>
            <a:r>
              <a:t>2. Phân Tích Khám Phá Dữ Liệu (EDA - 5 Biểu Đồ Trọng Tâm)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10728655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09728" rtlCol="0" anchor="ctr"/>
          <a:lstStyle/>
          <a:p>
            <a:pPr algn="ctr"/>
            <a:r>
              <a:rPr sz="1400" b="1">
                <a:solidFill>
                  <a:srgbClr val="0284C7"/>
                </a:solidFill>
              </a:rPr>
              <a:t>1. Phân bố loài (Species): </a:t>
            </a:r>
            <a:r>
              <a:rPr sz="1300">
                <a:solidFill>
                  <a:srgbClr val="1E293B"/>
                </a:solidFill>
              </a:rPr>
              <a:t>Adelie: 152, Gentoo: 124, Chinstrap: 68. Mất cân bằng nhẹ -&gt; Dùng stratify=y khi chia train/test.</a:t>
            </a:r>
            <a:endParaRPr sz="1300">
              <a:solidFill>
                <a:srgbClr val="1E293B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728655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09728" rtlCol="0" anchor="ctr"/>
          <a:lstStyle/>
          <a:p>
            <a:pPr algn="ctr"/>
            <a:r>
              <a:rPr sz="1400" b="1">
                <a:solidFill>
                  <a:srgbClr val="0284C7"/>
                </a:solidFill>
              </a:rPr>
              <a:t>2. Dữ liệu thiếu (Missing): </a:t>
            </a:r>
            <a:r>
              <a:rPr sz="1300">
                <a:solidFill>
                  <a:srgbClr val="1E293B"/>
                </a:solidFill>
              </a:rPr>
              <a:t>Khuyết thiếu &lt;3% dữ liệu ở các cột số và sex. Xuất hiện lỗi '.' ở cột sex -&gt; Đổi thành NaN để Imputer.</a:t>
            </a:r>
            <a:endParaRPr sz="1300">
              <a:solidFill>
                <a:srgbClr val="1E293B"/>
              </a:solidFill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731520" y="3200400"/>
            <a:ext cx="10728655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09728" rtlCol="0" anchor="ctr"/>
          <a:lstStyle/>
          <a:p>
            <a:pPr algn="ctr"/>
            <a:r>
              <a:rPr sz="1400" b="1">
                <a:solidFill>
                  <a:srgbClr val="0284C7"/>
                </a:solidFill>
              </a:rPr>
              <a:t>3. Scatter Length vs Depth: </a:t>
            </a:r>
            <a:r>
              <a:rPr sz="1300">
                <a:solidFill>
                  <a:srgbClr val="1E293B"/>
                </a:solidFill>
              </a:rPr>
              <a:t>Độ dài mỏ và độ sâu mỏ tạo ranh giới phân tách rõ giữa 3 loài, đặc biệt là loài Adelie vs Gentoo.</a:t>
            </a:r>
            <a:endParaRPr sz="1300">
              <a:solidFill>
                <a:srgbClr val="1E293B"/>
              </a:solidFill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31520" y="4160520"/>
            <a:ext cx="10728655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09728" rtlCol="0" anchor="ctr"/>
          <a:lstStyle/>
          <a:p>
            <a:pPr algn="ctr"/>
            <a:r>
              <a:rPr sz="1400" b="1">
                <a:solidFill>
                  <a:srgbClr val="0284C7"/>
                </a:solidFill>
              </a:rPr>
              <a:t>4. Boxplot Flipper Length: </a:t>
            </a:r>
            <a:r>
              <a:rPr sz="1300">
                <a:solidFill>
                  <a:srgbClr val="1E293B"/>
                </a:solidFill>
              </a:rPr>
              <a:t>Chiều dài vây cánh loài Gentoo nổi bật hẳn (&gt;200mm). Đây là đặc trưng phân quyết mạnh nhất.</a:t>
            </a:r>
            <a:endParaRPr sz="1300">
              <a:solidFill>
                <a:srgbClr val="1E293B"/>
              </a:solidFill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731520" y="5120640"/>
            <a:ext cx="10728655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09728" rtlCol="0" anchor="ctr"/>
          <a:lstStyle/>
          <a:p>
            <a:pPr algn="ctr"/>
            <a:r>
              <a:rPr sz="1400" b="1">
                <a:solidFill>
                  <a:srgbClr val="0284C7"/>
                </a:solidFill>
              </a:rPr>
              <a:t>5. Correlation Matrix: </a:t>
            </a:r>
            <a:r>
              <a:rPr sz="1300">
                <a:solidFill>
                  <a:srgbClr val="1E293B"/>
                </a:solidFill>
              </a:rPr>
              <a:t>Flipper Length và Body Mass có tương quan thuận rất mạnh (r = 0.87). Chuẩn hóa StandardScaler bắt buộc.</a:t>
            </a:r>
            <a:endParaRPr sz="1300">
              <a:solidFill>
                <a:srgbClr val="1E293B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284C7"/>
                </a:solidFill>
                <a:latin typeface="Arial" panose="020B0604020202020204"/>
              </a:defRPr>
            </a:pPr>
            <a:r>
              <a:t>BÁO CÁO BÀI TẬP LỚN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Arial" panose="020B0604020202020204"/>
              </a:defRPr>
            </a:pPr>
            <a:r>
              <a:t>3. Quy Trình Xử Lý Dữ Liệu &amp; Chống Rò Rỉ (Data Leakage)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10728655" cy="1005840"/>
          </a:xfrm>
          <a:prstGeom prst="roundRect">
            <a:avLst/>
          </a:prstGeom>
          <a:solidFill>
            <a:srgbClr val="FFF1F2"/>
          </a:solidFill>
          <a:ln>
            <a:solidFill>
              <a:srgbClr val="FECD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37160" rIns="228600" rtlCol="0" anchor="ctr"/>
          <a:lstStyle/>
          <a:p>
            <a:pPr algn="ctr">
              <a:spcAft>
                <a:spcPts val="400"/>
              </a:spcAft>
              <a:defRPr sz="1400" b="1">
                <a:solidFill>
                  <a:srgbClr val="BE123C"/>
                </a:solidFill>
              </a:defRPr>
            </a:pPr>
            <a:r>
              <a:t>[LƯU Ý QUAN TRỌNG] NGUYÊN TẮC VÀNG CHỐNG DATA LEAKAGE</a:t>
            </a:r>
          </a:p>
          <a:p>
            <a:pPr>
              <a:defRPr sz="1300">
                <a:solidFill>
                  <a:srgbClr val="881337"/>
                </a:solidFill>
              </a:defRPr>
            </a:pPr>
            <a:r>
              <a:t>Chia tập Train/Test (80/20, stratify=y) TRƯỚC KHI thực hiện bất kỳ phép fit Median, Mode hay StandardScaler nào. Toàn bộ thống kê chỉ được học trên tập Train.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468880"/>
            <a:ext cx="5242255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rtlCol="0" anchor="ctr"/>
          <a:lstStyle/>
          <a:p>
            <a:pPr algn="ctr">
              <a:spcAft>
                <a:spcPts val="800"/>
              </a:spcAft>
              <a:defRPr sz="1500" b="1">
                <a:solidFill>
                  <a:srgbClr val="0F172A"/>
                </a:solidFill>
              </a:defRPr>
            </a:pPr>
            <a:r>
              <a:t>1. Làm sạch ban đầu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Chuẩn hóa ký tự lỗi '.' ở cột sex -&gt; NaN. Loại 2 dòng thiếu toàn bộ số đo.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2468880"/>
            <a:ext cx="5242255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rtlCol="0" anchor="ctr"/>
          <a:lstStyle/>
          <a:p>
            <a:pPr algn="ctr">
              <a:spcAft>
                <a:spcPts val="800"/>
              </a:spcAft>
              <a:defRPr sz="1500" b="1">
                <a:solidFill>
                  <a:srgbClr val="0F172A"/>
                </a:solidFill>
              </a:defRPr>
            </a:pPr>
            <a:r>
              <a:t>2. Categorical Encoding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OneHotEncoder(handle_unknown='ignore') cho island, sex. Target dùng LabelEncoder.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480560"/>
            <a:ext cx="5242255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rtlCol="0" anchor="ctr"/>
          <a:lstStyle/>
          <a:p>
            <a:pPr algn="ctr">
              <a:spcAft>
                <a:spcPts val="800"/>
              </a:spcAft>
              <a:defRPr sz="1500" b="1">
                <a:solidFill>
                  <a:srgbClr val="0F172A"/>
                </a:solidFill>
              </a:defRPr>
            </a:pPr>
            <a:r>
              <a:t>3. Numeric Imputer &amp; Scaler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SimpleImputer(strategy='median') + StandardScaler() gói trong Pipeline.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4480560"/>
            <a:ext cx="5242255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rtlCol="0" anchor="ctr"/>
          <a:lstStyle/>
          <a:p>
            <a:pPr algn="ctr">
              <a:spcAft>
                <a:spcPts val="800"/>
              </a:spcAft>
              <a:defRPr sz="1500" b="1">
                <a:solidFill>
                  <a:srgbClr val="0F172A"/>
                </a:solidFill>
              </a:defRPr>
            </a:pPr>
            <a:r>
              <a:t>4. ColumnTransformer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Gói toàn bộ Transformer thành một bộ xử lý duy nhất để đóng gói sau này.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284C7"/>
                </a:solidFill>
                <a:latin typeface="Arial" panose="020B0604020202020204"/>
              </a:defRPr>
            </a:pPr>
            <a:r>
              <a:t>BÁO CÁO BÀI TẬP LỚN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Arial" panose="020B0604020202020204"/>
              </a:defRPr>
            </a:pPr>
            <a:r>
              <a:t>4. Huấn Luyện &amp; Tinh Chỉnh 4 Mô Hình (Cross-Validation 5-Fold)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371600"/>
          <a:ext cx="10728655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3200400"/>
                <a:gridCol w="4785055"/>
              </a:tblGrid>
              <a:tr h="950976">
                <a:tc>
                  <a:txBody>
                    <a:bodyPr wrap="square"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Tên Mô Hình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Hyperparameters Tinh Chỉnh (GridSearch)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Nguyên Lý &amp; Vai Trò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950976">
                <a:tc>
                  <a:txBody>
                    <a:bodyPr wrap="square"/>
                    <a:lstStyle/>
                    <a:p>
                      <a:pPr>
                        <a:defRPr sz="1300">
                          <a:solidFill>
                            <a:srgbClr val="1E293B"/>
                          </a:solidFill>
                        </a:defRPr>
                      </a:pPr>
                      <a:r>
                        <a:t>Baseline (DummyClassifier)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00">
                          <a:solidFill>
                            <a:srgbClr val="1E293B"/>
                          </a:solidFill>
                        </a:defRPr>
                      </a:pPr>
                      <a:r>
                        <a:t>strategy = 'most_frequent'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00">
                          <a:solidFill>
                            <a:srgbClr val="1E293B"/>
                          </a:solidFill>
                        </a:defRPr>
                      </a:pPr>
                      <a:r>
                        <a:t>Mô hình cơ sở không học đặc trưng, dùng làm mốc so sánh tối thiểu.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50976">
                <a:tc>
                  <a:txBody>
                    <a:bodyPr wrap="square"/>
                    <a:lstStyle/>
                    <a:p>
                      <a:pPr>
                        <a:defRPr sz="1300" b="1">
                          <a:solidFill>
                            <a:srgbClr val="0284C7"/>
                          </a:solidFill>
                        </a:defRPr>
                      </a:pPr>
                      <a:r>
                        <a:t>Logistic Regression [Đã chọn]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00">
                          <a:solidFill>
                            <a:srgbClr val="1E293B"/>
                          </a:solidFill>
                        </a:defRPr>
                      </a:pPr>
                      <a:r>
                        <a:t>classifier__C: [0.01, 0.1, 1, 10, 100]</a:t>
                      </a:r>
                      <a:br/>
                      <a:r>
                        <a:t>classifier__solver: ['lbfgs']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00">
                          <a:solidFill>
                            <a:srgbClr val="1E293B"/>
                          </a:solidFill>
                        </a:defRPr>
                      </a:pPr>
                      <a:r>
                        <a:t>Mô hình tuyến tính tối ưu siêu phẳng Softmax, dự đoán cực nhanh và dễ giải thích.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950976">
                <a:tc>
                  <a:txBody>
                    <a:bodyPr wrap="square"/>
                    <a:lstStyle/>
                    <a:p>
                      <a:pPr>
                        <a:defRPr sz="1300">
                          <a:solidFill>
                            <a:srgbClr val="1E293B"/>
                          </a:solidFill>
                        </a:defRPr>
                      </a:pPr>
                      <a:r>
                        <a:t>K-Nearest Neighbors (KNN)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00">
                          <a:solidFill>
                            <a:srgbClr val="1E293B"/>
                          </a:solidFill>
                        </a:defRPr>
                      </a:pPr>
                      <a:r>
                        <a:t>classifier__n_neighbors: [3, 5, 7, 9, 11]</a:t>
                      </a:r>
                      <a:br/>
                      <a:r>
                        <a:t>classifier__metric: ['euclidean', 'manhattan']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00">
                          <a:solidFill>
                            <a:srgbClr val="1E293B"/>
                          </a:solidFill>
                        </a:defRPr>
                      </a:pPr>
                      <a:r>
                        <a:t>Phân loại dựa trên K điểm dữ liệu gần nhất, nhạy cảm với khoảng cách.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50976">
                <a:tc>
                  <a:txBody>
                    <a:bodyPr wrap="square"/>
                    <a:lstStyle/>
                    <a:p>
                      <a:pPr>
                        <a:defRPr sz="1300">
                          <a:solidFill>
                            <a:srgbClr val="1E293B"/>
                          </a:solidFill>
                        </a:defRPr>
                      </a:pPr>
                      <a:r>
                        <a:t>Support Vector Machine (SVM)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00">
                          <a:solidFill>
                            <a:srgbClr val="1E293B"/>
                          </a:solidFill>
                        </a:defRPr>
                      </a:pPr>
                      <a:r>
                        <a:t>classifier__C: [0.1, 1, 10]</a:t>
                      </a:r>
                      <a:br/>
                      <a:r>
                        <a:t>classifier__kernel: ['rbf', 'linear']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00">
                          <a:solidFill>
                            <a:srgbClr val="1E293B"/>
                          </a:solidFill>
                        </a:defRPr>
                      </a:pPr>
                      <a:r>
                        <a:t>Tìm siêu phẳng tối đa hóa lề (margin) phân tách giữa các lớp.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284C7"/>
                </a:solidFill>
                <a:latin typeface="Arial" panose="020B0604020202020204"/>
              </a:defRPr>
            </a:pPr>
            <a:r>
              <a:t>BÁO CÁO BÀI TẬP LỚN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Arial" panose="020B0604020202020204"/>
              </a:defRPr>
            </a:pPr>
            <a:r>
              <a:t>5. Bảng Đánh Giá &amp; So Sánh Kết Quả Các Mô Hình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280160"/>
          <a:ext cx="10728655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1463040"/>
                <a:gridCol w="1463040"/>
                <a:gridCol w="1645920"/>
                <a:gridCol w="1645920"/>
                <a:gridCol w="1950415"/>
              </a:tblGrid>
              <a:tr h="475488">
                <a:tc>
                  <a:txBody>
                    <a:bodyPr wrap="square"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Mô Hình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Test Acc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Train Acc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Gap (Overfit)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F1-Macro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Xếp Hạng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>
                        <a:defRPr sz="1200" b="1">
                          <a:solidFill>
                            <a:srgbClr val="047857"/>
                          </a:solidFill>
                        </a:defRPr>
                      </a:pPr>
                      <a:r>
                        <a:t>Logistic Regression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 b="1">
                          <a:solidFill>
                            <a:srgbClr val="047857"/>
                          </a:solidFill>
                        </a:defRPr>
                      </a:pPr>
                      <a:r>
                        <a:t>1.0000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 b="1">
                          <a:solidFill>
                            <a:srgbClr val="047857"/>
                          </a:solidFill>
                        </a:defRPr>
                      </a:pPr>
                      <a:r>
                        <a:t>1.0000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 b="1">
                          <a:solidFill>
                            <a:srgbClr val="047857"/>
                          </a:solidFill>
                        </a:defRPr>
                      </a:pPr>
                      <a:r>
                        <a:t>0.0000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 b="1">
                          <a:solidFill>
                            <a:srgbClr val="047857"/>
                          </a:solidFill>
                        </a:defRPr>
                      </a:pPr>
                      <a:r>
                        <a:t>1.0000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 b="1">
                          <a:solidFill>
                            <a:srgbClr val="047857"/>
                          </a:solidFill>
                        </a:defRPr>
                      </a:pPr>
                      <a:r>
                        <a:t>Hạng 1 (Đã chọn)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KNN (Manhattan, K=5)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1.0000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1.0000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0.0000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1.0000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Hạng 2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Gradient Boosting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0.9855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0.9927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0.0072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0.9854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Hạng 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Baseline (Dummy)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0.4348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0.4432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0.0084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0.2020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Mốc So Sánh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31520" y="3931920"/>
            <a:ext cx="10728655" cy="24688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182880" rIns="274320" rtlCol="0" anchor="ctr"/>
          <a:lstStyle/>
          <a:p>
            <a:pPr algn="ctr">
              <a:spcAft>
                <a:spcPts val="800"/>
              </a:spcAft>
              <a:defRPr sz="1500" b="1">
                <a:solidFill>
                  <a:srgbClr val="0F172A"/>
                </a:solidFill>
              </a:defRPr>
            </a:pPr>
            <a:r>
              <a:t>LÝ DO LỰA CHỌN LOGISTIC REGRESSION LÀM MÔ HÌNH XUẤT SẮC NHẤT:</a:t>
            </a:r>
          </a:p>
          <a:p>
            <a:pPr>
              <a:spcAft>
                <a:spcPts val="400"/>
              </a:spcAft>
            </a:pPr>
            <a:r>
              <a:rPr sz="1300" b="1">
                <a:solidFill>
                  <a:srgbClr val="0284C7"/>
                </a:solidFill>
              </a:rPr>
              <a:t>1. Hiệu năng tuyệt đối: </a:t>
            </a:r>
            <a:r>
              <a:rPr sz="1300">
                <a:solidFill>
                  <a:srgbClr val="1E293B"/>
                </a:solidFill>
              </a:rPr>
              <a:t>Đạt độ chính xác Test Accuracy 100% (1.0000) và F1-Score = 1.0000 trên tập test độc lập (69 mẫu).</a:t>
            </a:r>
            <a:endParaRPr sz="1300">
              <a:solidFill>
                <a:srgbClr val="1E293B"/>
              </a:solidFill>
            </a:endParaRPr>
          </a:p>
          <a:p>
            <a:pPr>
              <a:spcAft>
                <a:spcPts val="400"/>
              </a:spcAft>
            </a:pPr>
            <a:r>
              <a:rPr sz="1300" b="1">
                <a:solidFill>
                  <a:srgbClr val="0284C7"/>
                </a:solidFill>
              </a:rPr>
              <a:t>2. Không Overfitting: </a:t>
            </a:r>
            <a:r>
              <a:rPr sz="1300">
                <a:solidFill>
                  <a:srgbClr val="1E293B"/>
                </a:solidFill>
              </a:rPr>
              <a:t>Gap Train-Test = 0.0000 khẳng định mô hình tuyến tính phân tách siêu phẳng cực kỳ chuẩn xác và tổng quát tốt.</a:t>
            </a:r>
            <a:endParaRPr sz="1300">
              <a:solidFill>
                <a:srgbClr val="1E293B"/>
              </a:solidFill>
            </a:endParaRPr>
          </a:p>
          <a:p>
            <a:pPr>
              <a:spcAft>
                <a:spcPts val="400"/>
              </a:spcAft>
            </a:pPr>
            <a:r>
              <a:rPr sz="1300" b="1">
                <a:solidFill>
                  <a:srgbClr val="0284C7"/>
                </a:solidFill>
              </a:rPr>
              <a:t>3. Tối ưu hệ thống &amp; Occam's Razor: </a:t>
            </a:r>
            <a:r>
              <a:rPr sz="1300">
                <a:solidFill>
                  <a:srgbClr val="1E293B"/>
                </a:solidFill>
              </a:rPr>
              <a:t>Thời gian dự đoán cực nhanh (0.128 ms/mẫu), file joblib siêu nhẹ (~12 KB), dễ giải thích toán học (XAI) và đồng bộ 100% với giao diện Dashboard Web đã triển khai.</a:t>
            </a:r>
            <a:endParaRPr sz="1300">
              <a:solidFill>
                <a:srgbClr val="1E293B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284C7"/>
                </a:solidFill>
                <a:latin typeface="Arial" panose="020B0604020202020204"/>
              </a:defRPr>
            </a:pPr>
            <a:r>
              <a:t>BÁO CÁO BÀI TẬP LỚN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Arial" panose="020B0604020202020204"/>
              </a:defRPr>
            </a:pPr>
            <a:r>
              <a:t>6. Quy Chuẩn Đóng Gói Mô Hình &amp; Bộ Artifacts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413455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rtlCol="0" anchor="ctr"/>
          <a:lstStyle/>
          <a:p>
            <a:pPr algn="ctr">
              <a:spcAft>
                <a:spcPts val="800"/>
              </a:spcAft>
              <a:defRPr sz="1300" b="1">
                <a:solidFill>
                  <a:srgbClr val="64748B"/>
                </a:solidFill>
              </a:defRPr>
            </a:pPr>
            <a:r>
              <a:t>[ARTIFACT 1]</a:t>
            </a:r>
          </a:p>
          <a:p>
            <a:pPr>
              <a:spcAft>
                <a:spcPts val="1400"/>
              </a:spcAft>
              <a:defRPr sz="2000" b="1">
                <a:solidFill>
                  <a:srgbClr val="0284C7"/>
                </a:solidFill>
              </a:defRPr>
            </a:pPr>
            <a:r>
              <a:t>model.joblib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Đóng gói trọn gói Pipeline (Preprocess + Logistic Regression) giúp AI Service chỉ cần nạp 1 file duy nhất là có thể predict trực tiếp.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463040"/>
            <a:ext cx="3413455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rtlCol="0" anchor="ctr"/>
          <a:lstStyle/>
          <a:p>
            <a:pPr algn="ctr">
              <a:spcAft>
                <a:spcPts val="800"/>
              </a:spcAft>
              <a:defRPr sz="1300" b="1">
                <a:solidFill>
                  <a:srgbClr val="64748B"/>
                </a:solidFill>
              </a:defRPr>
            </a:pPr>
            <a:r>
              <a:t>[ARTIFACT 2]</a:t>
            </a:r>
          </a:p>
          <a:p>
            <a:pPr>
              <a:spcAft>
                <a:spcPts val="1400"/>
              </a:spcAft>
              <a:defRPr sz="2000" b="1">
                <a:solidFill>
                  <a:srgbClr val="0284C7"/>
                </a:solidFill>
              </a:defRPr>
            </a:pPr>
            <a:r>
              <a:t>schema.json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Định nghĩa tên cột, kiểu dữ liệu, miền min/max và danh sách nhãn target để Backend validate dữ liệu trước khi gọi AI Service.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463040"/>
            <a:ext cx="3413455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rtlCol="0" anchor="ctr"/>
          <a:lstStyle/>
          <a:p>
            <a:pPr algn="ctr">
              <a:spcAft>
                <a:spcPts val="800"/>
              </a:spcAft>
              <a:defRPr sz="1300" b="1">
                <a:solidFill>
                  <a:srgbClr val="64748B"/>
                </a:solidFill>
              </a:defRPr>
            </a:pPr>
            <a:r>
              <a:t>[ARTIFACT 3]</a:t>
            </a:r>
          </a:p>
          <a:p>
            <a:pPr>
              <a:spcAft>
                <a:spcPts val="1400"/>
              </a:spcAft>
              <a:defRPr sz="2000" b="1">
                <a:solidFill>
                  <a:srgbClr val="0284C7"/>
                </a:solidFill>
              </a:defRPr>
            </a:pPr>
            <a:r>
              <a:t>metadata.json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Lưu thông tin phiên bản mô hình (v1.0.0), ngày huấn luyện, danh sách metrics và tóm tắt kết quả của tất cả các mô hình.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284C7"/>
                </a:solidFill>
                <a:latin typeface="Arial" panose="020B0604020202020204"/>
              </a:defRPr>
            </a:pPr>
            <a:r>
              <a:t>BÁO CÁO BÀI TẬP LỚN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Arial" panose="020B0604020202020204"/>
              </a:defRPr>
            </a:pPr>
            <a:r>
              <a:t>7. Thiết Kế Kiến Trúc Hệ Thống Microservices 3 Khối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2499055" cy="29260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82880" rIns="137160" rtlCol="0" anchor="ctr"/>
          <a:lstStyle/>
          <a:p>
            <a:pPr algn="ctr">
              <a:defRPr sz="1400" b="1">
                <a:solidFill>
                  <a:srgbClr val="0F172A"/>
                </a:solidFill>
              </a:defRPr>
            </a:pPr>
            <a:r>
              <a:t>Frontend (Vite/React)</a:t>
            </a:r>
          </a:p>
          <a:p>
            <a:pPr>
              <a:spcAft>
                <a:spcPts val="800"/>
              </a:spcAft>
              <a:defRPr sz="1200" b="1">
                <a:solidFill>
                  <a:srgbClr val="0284C7"/>
                </a:solidFill>
              </a:defRPr>
            </a:pPr>
            <a:r>
              <a:t>Cổng 3000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Form nhập liệu sinh trắc học &amp; hiển thị kết quả phân loại.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0" y="1371600"/>
            <a:ext cx="2499055" cy="29260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82880" rIns="137160" rtlCol="0" anchor="ctr"/>
          <a:lstStyle/>
          <a:p>
            <a:pPr algn="ctr">
              <a:defRPr sz="1400" b="1">
                <a:solidFill>
                  <a:srgbClr val="0F172A"/>
                </a:solidFill>
              </a:defRPr>
            </a:pPr>
            <a:r>
              <a:t>Backend (FastAPI)</a:t>
            </a:r>
          </a:p>
          <a:p>
            <a:pPr>
              <a:spcAft>
                <a:spcPts val="800"/>
              </a:spcAft>
              <a:defRPr sz="1200" b="1">
                <a:solidFill>
                  <a:srgbClr val="0284C7"/>
                </a:solidFill>
              </a:defRPr>
            </a:pPr>
            <a:r>
              <a:t>Cổng 8000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Validate schema.json, gọi AI Service và lưu history vào CSDL.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371600"/>
            <a:ext cx="2499055" cy="29260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82880" rIns="137160" rtlCol="0" anchor="ctr"/>
          <a:lstStyle/>
          <a:p>
            <a:pPr algn="ctr">
              <a:defRPr sz="1400" b="1">
                <a:solidFill>
                  <a:srgbClr val="0F172A"/>
                </a:solidFill>
              </a:defRPr>
            </a:pPr>
            <a:r>
              <a:t>AI Service (FastAPI)</a:t>
            </a:r>
          </a:p>
          <a:p>
            <a:pPr>
              <a:spcAft>
                <a:spcPts val="800"/>
              </a:spcAft>
              <a:defRPr sz="1200" b="1">
                <a:solidFill>
                  <a:srgbClr val="0284C7"/>
                </a:solidFill>
              </a:defRPr>
            </a:pPr>
            <a:r>
              <a:t>Cổng 8001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Nạp model.joblib vào bộ nhớ và thực hiện dự đoán realtime.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961120" y="1371600"/>
            <a:ext cx="2499055" cy="29260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82880" rIns="137160" rtlCol="0" anchor="ctr"/>
          <a:lstStyle/>
          <a:p>
            <a:pPr algn="ctr">
              <a:defRPr sz="1400" b="1">
                <a:solidFill>
                  <a:srgbClr val="0F172A"/>
                </a:solidFill>
              </a:defRPr>
            </a:pPr>
            <a:r>
              <a:t>MongoDB Database</a:t>
            </a:r>
          </a:p>
          <a:p>
            <a:pPr>
              <a:spcAft>
                <a:spcPts val="800"/>
              </a:spcAft>
              <a:defRPr sz="1200" b="1">
                <a:solidFill>
                  <a:srgbClr val="0284C7"/>
                </a:solidFill>
              </a:defRPr>
            </a:pPr>
            <a:r>
              <a:t>Cổng 27017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Lưu trữ lịch sử tất cả các request dự đoán và kết quả.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572000"/>
            <a:ext cx="10728655" cy="1645920"/>
          </a:xfrm>
          <a:prstGeom prst="roundRect">
            <a:avLst/>
          </a:prstGeom>
          <a:solidFill>
            <a:srgbClr val="F0F9FF"/>
          </a:solidFill>
          <a:ln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37160" rIns="228600" rtlCol="0" anchor="ctr"/>
          <a:lstStyle/>
          <a:p>
            <a:pPr algn="ctr">
              <a:spcAft>
                <a:spcPts val="600"/>
              </a:spcAft>
              <a:defRPr sz="1400" b="1">
                <a:solidFill>
                  <a:srgbClr val="0284C7"/>
                </a:solidFill>
              </a:defRPr>
            </a:pPr>
            <a:r>
              <a:t>LUỒNG XỬ LÝ (API CONTRACT):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User -&gt; FE (POST /api/predict) -&gt; BE FastAPI (Validate Schema &amp; sinh X-Request-ID) -&gt; AI Service (/predict) -&gt; Nạp model.joblib -&gt; Trả nhãn loài chim &amp; lưu vào CSDL MongoDB.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284C7"/>
                </a:solidFill>
                <a:latin typeface="Arial" panose="020B0604020202020204"/>
              </a:defRPr>
            </a:pPr>
            <a:r>
              <a:t>BÁO CÁO BÀI TẬP LỚN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Arial" panose="020B0604020202020204"/>
              </a:defRPr>
            </a:pPr>
            <a:r>
              <a:t>8. Triển Khai Online, Tunnel &amp; Cấu Hình Biến Môi Trường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120640" cy="48463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rtlCol="0" anchor="ctr"/>
          <a:lstStyle/>
          <a:p>
            <a:pPr algn="ctr">
              <a:spcAft>
                <a:spcPts val="1000"/>
              </a:spcAft>
              <a:defRPr sz="1500" b="1">
                <a:solidFill>
                  <a:srgbClr val="0F172A"/>
                </a:solidFill>
              </a:defRPr>
            </a:pPr>
            <a:r>
              <a:t>CẤU HÌNH BIẾN MÔI TRƯỜNG (.env)</a:t>
            </a:r>
          </a:p>
          <a:p>
            <a:pPr>
              <a:defRPr sz="1200">
                <a:solidFill>
                  <a:srgbClr val="0284C7"/>
                </a:solidFill>
                <a:latin typeface="Courier New" panose="02070309020205020404"/>
              </a:defRPr>
            </a:pPr>
            <a:r>
              <a:t>AI_SERVICE_URL=http://ai-service:8001</a:t>
            </a:r>
            <a:br/>
            <a:r>
              <a:t>MONGO_URI=mongodb://mongo:27017/penguin_db</a:t>
            </a:r>
            <a:br/>
            <a:r>
              <a:t>PORT_FRONTEND=3000</a:t>
            </a:r>
            <a:br/>
            <a:r>
              <a:t>PORT_BACKEND=8000</a:t>
            </a:r>
            <a:br/>
            <a:r>
              <a:t>PORT_AI_SERVICE=8001</a:t>
            </a:r>
            <a:br/>
            <a:r>
              <a:t>ENVIRONMENT=production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371600"/>
            <a:ext cx="5242255" cy="48463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rtlCol="0" anchor="ctr"/>
          <a:lstStyle/>
          <a:p>
            <a:pPr algn="ctr">
              <a:spcAft>
                <a:spcPts val="1000"/>
              </a:spcAft>
              <a:defRPr sz="1500" b="1">
                <a:solidFill>
                  <a:srgbClr val="0F172A"/>
                </a:solidFill>
              </a:defRPr>
            </a:pPr>
            <a:r>
              <a:t>TRIỂN KHAI PUBLIC TUNNEL &amp; DOCKER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0284C7"/>
                </a:solidFill>
              </a:rPr>
              <a:t>• Docker Compose: </a:t>
            </a:r>
            <a:r>
              <a:rPr sz="1300">
                <a:solidFill>
                  <a:srgbClr val="1E293B"/>
                </a:solidFill>
              </a:rPr>
              <a:t>Đóng gói 4 container (Frontend, Backend, AI Service, MongoDB) chạy chung network 'penguin-net'.</a:t>
            </a:r>
            <a:endParaRPr sz="1300">
              <a:solidFill>
                <a:srgbClr val="1E293B"/>
              </a:solidFill>
            </a:endParaRP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0284C7"/>
                </a:solidFill>
              </a:rPr>
              <a:t>• Public Tunnel (Ngrok/Render): </a:t>
            </a:r>
            <a:r>
              <a:rPr sz="1300">
                <a:solidFill>
                  <a:srgbClr val="1E293B"/>
                </a:solidFill>
              </a:rPr>
              <a:t>Public cổng Backend &amp; Frontend qua Ngrok Tunnel để GVHD test live công khai.</a:t>
            </a:r>
            <a:endParaRPr sz="1300">
              <a:solidFill>
                <a:srgbClr val="1E293B"/>
              </a:solidFill>
            </a:endParaRP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0284C7"/>
                </a:solidFill>
              </a:rPr>
              <a:t>• Health Check: </a:t>
            </a:r>
            <a:r>
              <a:rPr sz="1300">
                <a:solidFill>
                  <a:srgbClr val="1E293B"/>
                </a:solidFill>
              </a:rPr>
              <a:t>Cấu hình /healthcheck đảm bảo AI Service sẵn sàng trước khi Backend gửi request.</a:t>
            </a:r>
            <a:endParaRPr sz="1300">
              <a:solidFill>
                <a:srgbClr val="1E293B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284C7"/>
                </a:solidFill>
                <a:latin typeface="Arial" panose="020B0604020202020204"/>
              </a:defRPr>
            </a:pPr>
            <a:r>
              <a:t>BÁO CÁO BÀI TẬP LỚN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Arial" panose="020B0604020202020204"/>
              </a:defRPr>
            </a:pPr>
            <a:r>
              <a:t>9. Kiểm Thử Hiệu Năng &amp; Tải Hệ Thống (Locust Load Test)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2499055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82880" rIns="137160" rtlCol="0" anchor="ctr"/>
          <a:lstStyle/>
          <a:p>
            <a:pPr algn="ctr">
              <a:defRPr sz="2800" b="1">
                <a:solidFill>
                  <a:srgbClr val="10B981"/>
                </a:solidFill>
              </a:defRPr>
            </a:pPr>
            <a:r>
              <a:t>1,240</a:t>
            </a:r>
          </a:p>
          <a:p>
            <a:pPr algn="ctr">
              <a:defRPr sz="1200" b="1">
                <a:solidFill>
                  <a:srgbClr val="0F172A"/>
                </a:solidFill>
              </a:defRPr>
            </a:pPr>
            <a:r>
              <a:t>Tổng Request Test</a:t>
            </a:r>
          </a:p>
          <a:p>
            <a:pPr algn="ctr">
              <a:defRPr sz="1100">
                <a:solidFill>
                  <a:srgbClr val="64748B"/>
                </a:solidFill>
              </a:defRPr>
            </a:pPr>
            <a:r>
              <a:t>Chạy giả lập trong 5 phút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0" y="1371600"/>
            <a:ext cx="2499055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82880" rIns="137160" rtlCol="0" anchor="ctr"/>
          <a:lstStyle/>
          <a:p>
            <a:pPr algn="ctr">
              <a:defRPr sz="2800" b="1">
                <a:solidFill>
                  <a:srgbClr val="10B981"/>
                </a:solidFill>
              </a:defRPr>
            </a:pPr>
            <a:r>
              <a:t>0.0%</a:t>
            </a:r>
          </a:p>
          <a:p>
            <a:pPr algn="ctr">
              <a:defRPr sz="1200" b="1">
                <a:solidFill>
                  <a:srgbClr val="0F172A"/>
                </a:solidFill>
              </a:defRPr>
            </a:pPr>
            <a:r>
              <a:t>Tỉ Lệ Lỗi (Error Rate)</a:t>
            </a:r>
          </a:p>
          <a:p>
            <a:pPr algn="ctr">
              <a:defRPr sz="1100">
                <a:solidFill>
                  <a:srgbClr val="64748B"/>
                </a:solidFill>
              </a:defRPr>
            </a:pPr>
            <a:r>
              <a:t>Hoàn toàn không có request hỏng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371600"/>
            <a:ext cx="2499055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82880" rIns="137160" rtlCol="0" anchor="ctr"/>
          <a:lstStyle/>
          <a:p>
            <a:pPr algn="ctr">
              <a:defRPr sz="2800" b="1">
                <a:solidFill>
                  <a:srgbClr val="10B981"/>
                </a:solidFill>
              </a:defRPr>
            </a:pPr>
            <a:r>
              <a:t>45 ms</a:t>
            </a:r>
          </a:p>
          <a:p>
            <a:pPr algn="ctr">
              <a:defRPr sz="1200" b="1">
                <a:solidFill>
                  <a:srgbClr val="0F172A"/>
                </a:solidFill>
              </a:defRPr>
            </a:pPr>
            <a:r>
              <a:t>Thời Gian Phản Hồi (p50)</a:t>
            </a:r>
          </a:p>
          <a:p>
            <a:pPr algn="ctr">
              <a:defRPr sz="1100">
                <a:solidFill>
                  <a:srgbClr val="64748B"/>
                </a:solidFill>
              </a:defRPr>
            </a:pPr>
            <a:r>
              <a:t>Latency cực thấp cho AI Service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961120" y="1371600"/>
            <a:ext cx="2499055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82880" rIns="137160" rtlCol="0" anchor="ctr"/>
          <a:lstStyle/>
          <a:p>
            <a:pPr algn="ctr">
              <a:defRPr sz="2800" b="1">
                <a:solidFill>
                  <a:srgbClr val="10B981"/>
                </a:solidFill>
              </a:defRPr>
            </a:pPr>
            <a:r>
              <a:t>120 RPS</a:t>
            </a:r>
          </a:p>
          <a:p>
            <a:pPr algn="ctr">
              <a:defRPr sz="1200" b="1">
                <a:solidFill>
                  <a:srgbClr val="0F172A"/>
                </a:solidFill>
              </a:defRPr>
            </a:pPr>
            <a:r>
              <a:t>Tải Tối Đa (Requests/sec)</a:t>
            </a:r>
          </a:p>
          <a:p>
            <a:pPr algn="ctr">
              <a:defRPr sz="1100">
                <a:solidFill>
                  <a:srgbClr val="64748B"/>
                </a:solidFill>
              </a:defRPr>
            </a:pPr>
            <a:r>
              <a:t>Đạt công suất phục vụ tốt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657600"/>
            <a:ext cx="10728655" cy="25603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182880" rIns="274320" rtlCol="0" anchor="ctr"/>
          <a:lstStyle/>
          <a:p>
            <a:pPr algn="ctr">
              <a:spcAft>
                <a:spcPts val="800"/>
              </a:spcAft>
              <a:defRPr sz="1500" b="1">
                <a:solidFill>
                  <a:srgbClr val="0F172A"/>
                </a:solidFill>
              </a:defRPr>
            </a:pPr>
            <a:r>
              <a:t>ĐÁNH GIÁ HIỆU NĂNG VÀ KHẢ NĂNG CHỊU TẢI: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</a:defRPr>
            </a:pPr>
            <a:r>
              <a:t>• Việc nạp trực tiếp file model.joblib (Logistic Regression ~12KB) vào bộ nhớ RAM khi AI Service khởi động giúp loại bỏ hoàn toàn thời gian nạp lại mô hình cho mỗi request.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</a:defRPr>
            </a:pPr>
            <a:r>
              <a:t>• Hệ thống đạt phản hồi trung bình 45ms, đáp ứng hoàn hảo yêu cầu ứng dụng web thời gian thực.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</a:defRPr>
            </a:pPr>
            <a:r>
              <a:t>• Toàn bộ request được ghi nhận log kèm header X-Request-ID trùng khớp giữa 3 container.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284C7"/>
                </a:solidFill>
                <a:latin typeface="Arial" panose="020B0604020202020204"/>
              </a:defRPr>
            </a:pPr>
            <a:r>
              <a:t>BÁO CÁO BÀI TẬP LỚN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Arial" panose="020B0604020202020204"/>
              </a:defRPr>
            </a:pPr>
            <a:r>
              <a:t>10. Kết Luận, Hạn Chế &amp; Hướng Phát Triển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120640" cy="48463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rtlCol="0" anchor="ctr"/>
          <a:lstStyle/>
          <a:p>
            <a:pPr algn="ctr">
              <a:spcAft>
                <a:spcPts val="1000"/>
              </a:spcAft>
              <a:defRPr sz="1500" b="1">
                <a:solidFill>
                  <a:srgbClr val="0F172A"/>
                </a:solidFill>
              </a:defRPr>
            </a:pPr>
            <a:r>
              <a:t>KẾT LUẬN &amp; HẠN CHẾ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0284C7"/>
                </a:solidFill>
              </a:rPr>
              <a:t>• Kết quả đạt được: </a:t>
            </a:r>
            <a:r>
              <a:rPr sz="1300">
                <a:solidFill>
                  <a:srgbClr val="1E293B"/>
                </a:solidFill>
              </a:rPr>
              <a:t>Hoàn thiện 100% quy trình từ EDA, huấn luyện ML đến đóng gói Microservices Docker Compose công khai.</a:t>
            </a:r>
            <a:endParaRPr sz="1300">
              <a:solidFill>
                <a:srgbClr val="1E293B"/>
              </a:solidFill>
            </a:endParaRP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0284C7"/>
                </a:solidFill>
              </a:rPr>
              <a:t>• Mô hình tối ưu: </a:t>
            </a:r>
            <a:r>
              <a:rPr sz="1300">
                <a:solidFill>
                  <a:srgbClr val="1E293B"/>
                </a:solidFill>
              </a:rPr>
              <a:t>Logistic Regression đạt F1-Score 1.0000 (100% Accuracy), không bị Overfitting.</a:t>
            </a:r>
            <a:endParaRPr sz="1300">
              <a:solidFill>
                <a:srgbClr val="1E293B"/>
              </a:solidFill>
            </a:endParaRP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0284C7"/>
                </a:solidFill>
              </a:rPr>
              <a:t>• Hạn chế hiện tại: </a:t>
            </a:r>
            <a:r>
              <a:rPr sz="1300">
                <a:solidFill>
                  <a:srgbClr val="1E293B"/>
                </a:solidFill>
              </a:rPr>
              <a:t>Quy mô dữ liệu bảng nhỏ (344 dòng), chưa thử nghiệm trên dữ liệu hình ảnh chim cánh cụt thực địa.</a:t>
            </a:r>
            <a:endParaRPr sz="1300">
              <a:solidFill>
                <a:srgbClr val="1E293B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217920" y="1371600"/>
            <a:ext cx="5242255" cy="48463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rtlCol="0" anchor="ctr"/>
          <a:lstStyle/>
          <a:p>
            <a:pPr algn="ctr">
              <a:spcAft>
                <a:spcPts val="1000"/>
              </a:spcAft>
              <a:defRPr sz="1500" b="1">
                <a:solidFill>
                  <a:srgbClr val="0F172A"/>
                </a:solidFill>
              </a:defRPr>
            </a:pPr>
            <a:r>
              <a:t>HƯỚNG PHÁT TRIỂN DỰ ÁN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0284C7"/>
                </a:solidFill>
              </a:rPr>
              <a:t>• Mở rộng Computer Vision: </a:t>
            </a:r>
            <a:r>
              <a:rPr sz="1300">
                <a:solidFill>
                  <a:srgbClr val="1E293B"/>
                </a:solidFill>
              </a:rPr>
              <a:t>Tích hợp mô hình CNN/ResNet nhận diện loài chim cánh cụt trực tiếp qua ảnh chụp ngoài thực địa.</a:t>
            </a:r>
            <a:endParaRPr sz="1300">
              <a:solidFill>
                <a:srgbClr val="1E293B"/>
              </a:solidFill>
            </a:endParaRP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0284C7"/>
                </a:solidFill>
              </a:rPr>
              <a:t>• Giải thích mô hình (XAI): </a:t>
            </a:r>
            <a:r>
              <a:rPr sz="1300">
                <a:solidFill>
                  <a:srgbClr val="1E293B"/>
                </a:solidFill>
              </a:rPr>
              <a:t>Tích hợp thư viện SHAP/LIME trên giao diện Web để giải thích lý do mô hình đưa ra dự đoán.</a:t>
            </a:r>
            <a:endParaRPr sz="1300">
              <a:solidFill>
                <a:srgbClr val="1E293B"/>
              </a:solidFill>
            </a:endParaRP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0284C7"/>
                </a:solidFill>
              </a:rPr>
              <a:t>• CI/CD Pipeline: </a:t>
            </a:r>
            <a:r>
              <a:rPr sz="1300">
                <a:solidFill>
                  <a:srgbClr val="1E293B"/>
                </a:solidFill>
              </a:rPr>
              <a:t>Tự động hóa testing và deployment với GitHub Actions khi push code mới lên repository.</a:t>
            </a:r>
            <a:endParaRPr sz="1300">
              <a:solidFill>
                <a:srgbClr val="1E293B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62895" cy="3153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0284C7"/>
                </a:solidFill>
              </a:defRPr>
            </a:pPr>
            <a:r>
              <a:t>TRỎ ĐẾN REPOSITORY &amp; HƯỚNG DẪN KHỞI CHẠY NHANH</a:t>
            </a:r>
          </a:p>
          <a:p>
            <a:pPr>
              <a:spcAft>
                <a:spcPts val="2800"/>
              </a:spcAft>
              <a:defRPr sz="1300">
                <a:solidFill>
                  <a:srgbClr val="E2E8F0"/>
                </a:solidFill>
                <a:latin typeface="Courier New" panose="02070309020205020404"/>
              </a:defRPr>
            </a:pPr>
            <a:r>
              <a:t>1. Clone Repository:</a:t>
            </a:r>
            <a:br/>
            <a:r>
              <a:t>   </a:t>
            </a:r>
            <a:r>
              <a:rPr lang="en-US" altLang="en-US"/>
              <a:t>https://github.com/Syy256/14_12523077_12523048_PhanLoaiChimCanhCut/branches</a:t>
            </a:r>
            <a:br/>
            <a:br/>
            <a:r>
              <a:t>2. Khởi chạy toàn bộ hệ thống bằng 1 lệnh duy nhất:</a:t>
            </a:r>
            <a:br/>
            <a:r>
              <a:t>   docker compose up --build -d</a:t>
            </a:r>
            <a:br/>
            <a:br/>
            <a:r>
              <a:t>3. Truy cập ứng dụng:</a:t>
            </a:r>
            <a:br/>
            <a:r>
              <a:t>   • Frontend: </a:t>
            </a:r>
            <a:r>
              <a:rPr lang="en-US" altLang="en-US"/>
              <a:t>https://penguin-classification.vercel.app/</a:t>
            </a:r>
            <a:br/>
            <a:r>
              <a:t>   • Backend Docs: http://localhost:8000/docs</a:t>
            </a:r>
            <a:br/>
            <a:r>
              <a:t>   • AI Service Docs: http://localhost:8001/docs</a:t>
            </a:r>
          </a:p>
          <a:p>
            <a:pPr>
              <a:defRPr sz="1800" b="1">
                <a:solidFill>
                  <a:srgbClr val="10B981"/>
                </a:solidFill>
              </a:defRPr>
            </a:pPr>
            <a:r>
              <a:t>XIN CHÂN THÀNH CẢM ƠN THẦY VÀ CÁC BẠN ĐÃ LẮNG NGHE BÀI THUYẾT TRÌNH!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7659</Words>
  <Application>WPS Presentation</Application>
  <PresentationFormat>On-screen Show (4:3)</PresentationFormat>
  <Paragraphs>250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1" baseType="lpstr">
      <vt:lpstr>Arial</vt:lpstr>
      <vt:lpstr>SimSun</vt:lpstr>
      <vt:lpstr>Wingdings</vt:lpstr>
      <vt:lpstr>Arial</vt:lpstr>
      <vt:lpstr>Courier New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Thanh Mai Đỗ</cp:lastModifiedBy>
  <cp:revision>2</cp:revision>
  <dcterms:created xsi:type="dcterms:W3CDTF">2013-01-27T09:14:00Z</dcterms:created>
  <dcterms:modified xsi:type="dcterms:W3CDTF">2026-09-27T23:24:26Z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F8A90D0A61774E478AB3A3B9C725400A_12</vt:lpwstr>
  </property>
  <property fmtid="{D5CDD505-2E9C-101B-9397-08002B2CF9AE}" pid="3" name="KSOProductBuildVer">
    <vt:lpwstr>1033-12.1.0.28485</vt:lpwstr>
  </property>
</Properties>
</file>